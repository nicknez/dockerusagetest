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D3EE8-BBB7-6760-9247-A818513F1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6A1C26-EE72-1F2C-21D9-DE5643FD4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645F42-6AB3-1D41-68C4-7997EBF7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462D-46A4-4B3C-ABA9-48410ECE57A1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0BF2FE-4499-FFB5-F345-36F32FFE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B410DF-C767-DDF4-65C8-11E1EB045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F332-92EC-4D30-A0FA-DF72C7FF34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736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8358D7-CDB9-B264-B020-EF659A43F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99A4B6-94F8-E7E4-1F93-F81B7BFE1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E4AFBD-E7B6-23BA-F18D-D0CDB5707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462D-46A4-4B3C-ABA9-48410ECE57A1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C1EE47-2F2A-4007-CE3B-36614FA2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611993-F0EF-E4C4-C472-A8A8B0E1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F332-92EC-4D30-A0FA-DF72C7FF34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71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E984A-4C6F-15C7-EA1C-063E99909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6FC76C-2BC5-DC95-07BF-722D4B72C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1885DC-3B9D-178F-F18C-4102AB7B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462D-46A4-4B3C-ABA9-48410ECE57A1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FFBDEA-33EF-B070-5985-138E04BFD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0F8B24-4A8E-A5AD-40F1-BEF3B48E6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F332-92EC-4D30-A0FA-DF72C7FF34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24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A12A8-C078-F045-6679-9AD60287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437492-863C-ECAA-5B0C-C615C48D03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F31876B-65BB-1169-0780-92238DC1A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C6ACCB-D1E8-1B8A-A629-0F7815F9D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462D-46A4-4B3C-ABA9-48410ECE57A1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54754D-ECEB-E64E-6125-2A9C6E21D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FA0791-ADEE-934C-A02D-964AF8D7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F332-92EC-4D30-A0FA-DF72C7FF34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066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E5B84-FE08-251B-51DD-D37F0F572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8662C8-0CE2-0300-3BC5-375A2B18C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BA481E-6397-15B5-343D-6266BA25A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6817D9D-4BC7-1C6C-5E7C-FFA21081B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519974-E0D2-9D46-9711-CB60E38675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642DEBB-162A-775D-F17D-534EC638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462D-46A4-4B3C-ABA9-48410ECE57A1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D589D83-C287-168B-E0EE-FCFA4ECE7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86128D1-7627-B518-9AD2-9BD45B4B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F332-92EC-4D30-A0FA-DF72C7FF34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128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4A4925-EF52-4512-740F-CC85422D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7760758-287C-9509-E2BA-EA515B5E8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462D-46A4-4B3C-ABA9-48410ECE57A1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B616E4-A27C-752E-669D-1E3384E61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507DCA-B4DD-F0CF-F51F-B532D25C9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F332-92EC-4D30-A0FA-DF72C7FF34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556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79DE61-6439-C030-B7FB-A5CFD043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462D-46A4-4B3C-ABA9-48410ECE57A1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6CD7F3D-ABC7-EBF0-38CA-EE731200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D22CD9-90D3-9725-006C-2833D514F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F332-92EC-4D30-A0FA-DF72C7FF34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70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8A9E3-893C-040A-5811-B8173DC8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AD39F-9B41-9713-4AF0-390044BE2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1C5B54-DC60-A18D-4AC8-21F8CD926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5A2C5A-ED87-7059-DAD4-BDFFBEF8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462D-46A4-4B3C-ABA9-48410ECE57A1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3AE9F8-3D1B-ED8A-43D2-3C604F6CA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3A4633-F72B-BB8F-334C-16806F29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F332-92EC-4D30-A0FA-DF72C7FF34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0903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60DACD-C30F-A6E1-F549-EA2742BD2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BCCF970-730F-7FBB-9837-664EF8C38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488AE8-B38A-2B31-141D-5321FA980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5CE801-7369-11C8-9601-02CC3DF5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462D-46A4-4B3C-ABA9-48410ECE57A1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7B57A1-2C01-4CC1-1275-0CA0C55E4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D0438A-FCEF-5243-848C-EE2E83CF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F332-92EC-4D30-A0FA-DF72C7FF34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426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1D90F-2443-7636-2AF7-5C2687ABD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EC86B5-A673-4547-C850-BB09878AD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B7B1FB-D7AB-6BAF-9990-6047493DE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462D-46A4-4B3C-ABA9-48410ECE57A1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D61945-5543-3AF2-C336-ADD1DE96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ACF589-AE2A-3118-2736-8948AF934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F332-92EC-4D30-A0FA-DF72C7FF34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43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5271DFD-7409-A6E7-8339-20A78D4F77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693A02-3F0C-9CF3-0DD0-445ED4099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6682BB-8A49-C71D-CC6F-51D9259B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462D-46A4-4B3C-ABA9-48410ECE57A1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D203E-9811-E483-FF0A-1B3057924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4A5A45-634F-B388-4F9F-38DD889D0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F332-92EC-4D30-A0FA-DF72C7FF34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75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75AF8B-E729-68E1-0ADB-296FE4AF7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898BBD-C04E-71F0-2A18-C8779AAF2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682959-B05B-1785-ABA5-F0D50F53C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D462D-46A4-4B3C-ABA9-48410ECE57A1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6C5AAF-0751-4547-5AE7-4732CDAC7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8B5967-B614-5429-B18B-6D6E0DD3B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FF332-92EC-4D30-A0FA-DF72C7FF34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494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D1FCF1-94C9-2A25-F249-5F89D05EC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7411"/>
            <a:ext cx="9144000" cy="1362635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Roboto" panose="02000000000000000000" pitchFamily="2" charset="0"/>
                <a:ea typeface="Roboto" panose="02000000000000000000" pitchFamily="2" charset="0"/>
              </a:rPr>
              <a:t>Сервис хранения, анализа изображений с помощью компьютерного зрения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55D2C4F-73D5-78DF-87F4-592CCF08278E}"/>
              </a:ext>
            </a:extLst>
          </p:cNvPr>
          <p:cNvSpPr txBox="1">
            <a:spLocks/>
          </p:cNvSpPr>
          <p:nvPr/>
        </p:nvSpPr>
        <p:spPr>
          <a:xfrm>
            <a:off x="7135906" y="5047129"/>
            <a:ext cx="4984377" cy="4303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</a:rPr>
              <a:t>Выполнил: </a:t>
            </a:r>
            <a:r>
              <a:rPr lang="ru-RU" sz="2000" dirty="0" err="1">
                <a:latin typeface="Roboto" panose="02000000000000000000" pitchFamily="2" charset="0"/>
                <a:ea typeface="Roboto" panose="02000000000000000000" pitchFamily="2" charset="0"/>
              </a:rPr>
              <a:t>Сыкулев</a:t>
            </a: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</a:rPr>
              <a:t> Антон ИТСИ-24-1м</a:t>
            </a:r>
          </a:p>
        </p:txBody>
      </p:sp>
    </p:spTree>
    <p:extLst>
      <p:ext uri="{BB962C8B-B14F-4D97-AF65-F5344CB8AC3E}">
        <p14:creationId xmlns:p14="http://schemas.microsoft.com/office/powerpoint/2010/main" val="4206130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374FF2C-E442-4EDB-071C-5BD842B01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/>
              <a:t>Сервис разработан на языке </a:t>
            </a:r>
            <a:r>
              <a:rPr lang="en-US" sz="2400" dirty="0"/>
              <a:t>Java</a:t>
            </a:r>
            <a:r>
              <a:rPr lang="ru-RU" sz="2400" dirty="0"/>
              <a:t>, используя фреймворк </a:t>
            </a:r>
            <a:r>
              <a:rPr lang="en-US" sz="2400" dirty="0"/>
              <a:t>Spring</a:t>
            </a:r>
            <a:r>
              <a:rPr lang="ru-RU" sz="2400" dirty="0"/>
              <a:t>. Используется </a:t>
            </a:r>
            <a:r>
              <a:rPr lang="ru-RU" sz="2400" dirty="0" err="1"/>
              <a:t>шаблонизатор</a:t>
            </a:r>
            <a:r>
              <a:rPr lang="ru-RU" sz="2400" dirty="0"/>
              <a:t> </a:t>
            </a:r>
            <a:r>
              <a:rPr lang="en-US" sz="2400" dirty="0" err="1"/>
              <a:t>Thymeleaf</a:t>
            </a:r>
            <a:r>
              <a:rPr lang="en-US" sz="2400" dirty="0"/>
              <a:t>.</a:t>
            </a:r>
            <a:endParaRPr lang="ru-RU" sz="2400" dirty="0"/>
          </a:p>
          <a:p>
            <a:r>
              <a:rPr lang="ru-RU" sz="2400" dirty="0"/>
              <a:t>Для хранения и анализа изображений используются облачные решения от </a:t>
            </a:r>
            <a:r>
              <a:rPr lang="en-US" sz="2400" dirty="0"/>
              <a:t>VK Cloud – Object Storage (S3), Vision (CV)</a:t>
            </a:r>
            <a:r>
              <a:rPr lang="ru-RU" sz="2400" dirty="0"/>
              <a:t>.</a:t>
            </a:r>
            <a:endParaRPr lang="en-US" sz="2400" dirty="0"/>
          </a:p>
          <a:p>
            <a:r>
              <a:rPr lang="ru-RU" sz="2400" dirty="0"/>
              <a:t>Сервис </a:t>
            </a:r>
            <a:r>
              <a:rPr lang="ru-RU" sz="2400" dirty="0" err="1"/>
              <a:t>контейнизирован</a:t>
            </a:r>
            <a:r>
              <a:rPr lang="ru-RU" sz="2400" dirty="0"/>
              <a:t> и может использоваться при помощи запуска контейнера</a:t>
            </a:r>
            <a:r>
              <a:rPr lang="en-US" sz="2400" dirty="0"/>
              <a:t> </a:t>
            </a:r>
            <a:r>
              <a:rPr lang="ru-RU" sz="2400" dirty="0"/>
              <a:t>в среде </a:t>
            </a:r>
            <a:r>
              <a:rPr lang="en-US" sz="2400" dirty="0"/>
              <a:t>Kubernetes.</a:t>
            </a:r>
            <a:r>
              <a:rPr lang="ru-RU" sz="2400" dirty="0"/>
              <a:t> </a:t>
            </a:r>
            <a:r>
              <a:rPr lang="en-US" sz="2400" dirty="0"/>
              <a:t> </a:t>
            </a:r>
            <a:endParaRPr lang="ru-RU" sz="2400" dirty="0"/>
          </a:p>
          <a:p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4693681-6CA6-F35C-FACD-0BA4B3006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183"/>
            <a:ext cx="10515600" cy="876261"/>
          </a:xfrm>
        </p:spPr>
        <p:txBody>
          <a:bodyPr/>
          <a:lstStyle/>
          <a:p>
            <a:pPr algn="ctr"/>
            <a:r>
              <a:rPr lang="ru-RU" sz="3600" dirty="0">
                <a:latin typeface="Roboto" panose="02000000000000000000" pitchFamily="2" charset="0"/>
                <a:ea typeface="Roboto" panose="02000000000000000000" pitchFamily="2" charset="0"/>
              </a:rPr>
              <a:t>Компоненты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3600" dirty="0">
                <a:latin typeface="Roboto" panose="02000000000000000000" pitchFamily="2" charset="0"/>
                <a:ea typeface="Roboto" panose="02000000000000000000" pitchFamily="2" charset="0"/>
              </a:rPr>
              <a:t>сервиса</a:t>
            </a:r>
          </a:p>
        </p:txBody>
      </p:sp>
    </p:spTree>
    <p:extLst>
      <p:ext uri="{BB962C8B-B14F-4D97-AF65-F5344CB8AC3E}">
        <p14:creationId xmlns:p14="http://schemas.microsoft.com/office/powerpoint/2010/main" val="3090384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11EB2FD5-4FEB-107D-B3FB-8E5001DAB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6" r="17910"/>
          <a:stretch>
            <a:fillRect/>
          </a:stretch>
        </p:blipFill>
        <p:spPr>
          <a:xfrm>
            <a:off x="6875957" y="1620222"/>
            <a:ext cx="3951060" cy="2648627"/>
          </a:xfrm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7C01F773-DC10-4E6F-3191-1F28EC885430}"/>
              </a:ext>
            </a:extLst>
          </p:cNvPr>
          <p:cNvSpPr txBox="1">
            <a:spLocks/>
          </p:cNvSpPr>
          <p:nvPr/>
        </p:nvSpPr>
        <p:spPr>
          <a:xfrm>
            <a:off x="838200" y="1909344"/>
            <a:ext cx="3850341" cy="3459919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</a:rPr>
              <a:t>При локальном запуске сервиса на главной странице отображаются текущие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</a:rPr>
              <a:t>бакеты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</a:rPr>
              <a:t> с возможностью создать, открыть или удалить текущие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</a:rPr>
              <a:t>бакеты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657813C-24FD-6E01-C905-B1D11F9C5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928992"/>
            <a:ext cx="5510974" cy="880541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C227A184-ABBE-BC48-5F4C-C52A87A7C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183"/>
            <a:ext cx="10515600" cy="876261"/>
          </a:xfrm>
        </p:spPr>
        <p:txBody>
          <a:bodyPr/>
          <a:lstStyle/>
          <a:p>
            <a:pPr algn="ctr"/>
            <a:r>
              <a:rPr lang="ru-RU" sz="3600" dirty="0">
                <a:latin typeface="Roboto" panose="02000000000000000000" pitchFamily="2" charset="0"/>
                <a:ea typeface="Roboto" panose="02000000000000000000" pitchFamily="2" charset="0"/>
              </a:rPr>
              <a:t>Функционал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3600" dirty="0">
                <a:latin typeface="Roboto" panose="02000000000000000000" pitchFamily="2" charset="0"/>
                <a:ea typeface="Roboto" panose="02000000000000000000" pitchFamily="2" charset="0"/>
              </a:rPr>
              <a:t>сервиса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B8D7BB-A8F3-C9B9-BB6D-B44495833307}"/>
              </a:ext>
            </a:extLst>
          </p:cNvPr>
          <p:cNvSpPr txBox="1"/>
          <p:nvPr/>
        </p:nvSpPr>
        <p:spPr>
          <a:xfrm>
            <a:off x="7381275" y="4268849"/>
            <a:ext cx="2940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Рис. 1 – Главная страница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D3BB0-3909-C89F-09A7-67D002008851}"/>
              </a:ext>
            </a:extLst>
          </p:cNvPr>
          <p:cNvSpPr txBox="1"/>
          <p:nvPr/>
        </p:nvSpPr>
        <p:spPr>
          <a:xfrm>
            <a:off x="6511699" y="5792568"/>
            <a:ext cx="4679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Рис. 2 – Отображение в облачном провайдере</a:t>
            </a:r>
          </a:p>
        </p:txBody>
      </p:sp>
    </p:spTree>
    <p:extLst>
      <p:ext uri="{BB962C8B-B14F-4D97-AF65-F5344CB8AC3E}">
        <p14:creationId xmlns:p14="http://schemas.microsoft.com/office/powerpoint/2010/main" val="3557757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>
            <a:extLst>
              <a:ext uri="{FF2B5EF4-FFF2-40B4-BE49-F238E27FC236}">
                <a16:creationId xmlns:a16="http://schemas.microsoft.com/office/drawing/2014/main" id="{427E53ED-1755-5B8D-7BB2-FED056FAA27F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38503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</a:rPr>
              <a:t>При нажатии на кнопку открытия открывается содержимое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</a:rPr>
              <a:t>бакета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</a:rPr>
              <a:t>. Есть возможность загрузить, проанализировать и удалить файлы. При нажатии на название файла он откроется в отдельном окне браузера.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2B70A9-6724-F2DF-345A-97EC02145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7" r="4974"/>
          <a:stretch>
            <a:fillRect/>
          </a:stretch>
        </p:blipFill>
        <p:spPr>
          <a:xfrm>
            <a:off x="6676727" y="1249166"/>
            <a:ext cx="4310959" cy="281855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58794D4-E090-1E5F-11A7-0158CA0C2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02" y="4589358"/>
            <a:ext cx="5590572" cy="1452668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69A7E31F-627F-B3C4-0CF9-1D4E7764A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183"/>
            <a:ext cx="10515600" cy="876261"/>
          </a:xfrm>
        </p:spPr>
        <p:txBody>
          <a:bodyPr/>
          <a:lstStyle/>
          <a:p>
            <a:pPr algn="ctr"/>
            <a:r>
              <a:rPr lang="ru-RU" sz="3600" dirty="0">
                <a:latin typeface="Roboto" panose="02000000000000000000" pitchFamily="2" charset="0"/>
                <a:ea typeface="Roboto" panose="02000000000000000000" pitchFamily="2" charset="0"/>
              </a:rPr>
              <a:t>Функционал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3600" dirty="0">
                <a:latin typeface="Roboto" panose="02000000000000000000" pitchFamily="2" charset="0"/>
                <a:ea typeface="Roboto" panose="02000000000000000000" pitchFamily="2" charset="0"/>
              </a:rPr>
              <a:t>сервиса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309FA-1BF7-C1B5-5FCC-3984E3B64084}"/>
              </a:ext>
            </a:extLst>
          </p:cNvPr>
          <p:cNvSpPr txBox="1"/>
          <p:nvPr/>
        </p:nvSpPr>
        <p:spPr>
          <a:xfrm>
            <a:off x="6676727" y="4067725"/>
            <a:ext cx="46297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Рис. 3 – Страница объектов внутри </a:t>
            </a:r>
            <a:r>
              <a:rPr lang="ru-RU" sz="1600" dirty="0" err="1">
                <a:latin typeface="Roboto" panose="02000000000000000000" pitchFamily="2" charset="0"/>
                <a:ea typeface="Roboto" panose="02000000000000000000" pitchFamily="2" charset="0"/>
              </a:rPr>
              <a:t>бакета</a:t>
            </a:r>
            <a:endParaRPr lang="ru-RU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44B3AC-9B4E-0524-13CB-35288CCC80B3}"/>
              </a:ext>
            </a:extLst>
          </p:cNvPr>
          <p:cNvSpPr txBox="1"/>
          <p:nvPr/>
        </p:nvSpPr>
        <p:spPr>
          <a:xfrm>
            <a:off x="6012002" y="6042026"/>
            <a:ext cx="5590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Рис. 4 – Объекты внутри </a:t>
            </a:r>
            <a:r>
              <a:rPr lang="ru-RU" sz="1600" dirty="0" err="1">
                <a:latin typeface="Roboto" panose="02000000000000000000" pitchFamily="2" charset="0"/>
                <a:ea typeface="Roboto" panose="02000000000000000000" pitchFamily="2" charset="0"/>
              </a:rPr>
              <a:t>бакета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 у облачного провайдера</a:t>
            </a:r>
          </a:p>
        </p:txBody>
      </p:sp>
    </p:spTree>
    <p:extLst>
      <p:ext uri="{BB962C8B-B14F-4D97-AF65-F5344CB8AC3E}">
        <p14:creationId xmlns:p14="http://schemas.microsoft.com/office/powerpoint/2010/main" val="2719265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CE434D8-9E3A-C0B7-3884-1B809687C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183"/>
            <a:ext cx="10515600" cy="876261"/>
          </a:xfrm>
        </p:spPr>
        <p:txBody>
          <a:bodyPr/>
          <a:lstStyle/>
          <a:p>
            <a:pPr algn="ctr"/>
            <a:r>
              <a:rPr lang="ru-RU" sz="3600" dirty="0">
                <a:latin typeface="Roboto" panose="02000000000000000000" pitchFamily="2" charset="0"/>
                <a:ea typeface="Roboto" panose="02000000000000000000" pitchFamily="2" charset="0"/>
              </a:rPr>
              <a:t>Функционал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3600" dirty="0">
                <a:latin typeface="Roboto" panose="02000000000000000000" pitchFamily="2" charset="0"/>
                <a:ea typeface="Roboto" panose="02000000000000000000" pitchFamily="2" charset="0"/>
              </a:rPr>
              <a:t>сервиса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0E3605D-0622-4469-5E6D-3AF327F508BE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38503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</a:rPr>
              <a:t>По нажатии на кнопку «Анализировать» изображение будет отправлено нейросети с режимом распознавания объектов на фото, возвращенная разметка будет отрисована на изображении и сохранена обратно в </a:t>
            </a:r>
            <a:r>
              <a:rPr lang="ru-RU" sz="2400" dirty="0" err="1">
                <a:latin typeface="Roboto" panose="02000000000000000000" pitchFamily="2" charset="0"/>
                <a:ea typeface="Roboto" panose="02000000000000000000" pitchFamily="2" charset="0"/>
              </a:rPr>
              <a:t>бакет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D458E57-0759-F7F0-00A5-370263DCB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382" y="1246093"/>
            <a:ext cx="3521047" cy="1341037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DEA9132-6BC7-875B-4BA7-C8FEC6752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605" y="3081338"/>
            <a:ext cx="55626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396B29E-B6B3-3571-F8C9-B7908B0523E7}"/>
              </a:ext>
            </a:extLst>
          </p:cNvPr>
          <p:cNvSpPr txBox="1"/>
          <p:nvPr/>
        </p:nvSpPr>
        <p:spPr>
          <a:xfrm>
            <a:off x="6899382" y="2587130"/>
            <a:ext cx="3521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Рис. 5 – Анализ изображения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5653A3-74C4-FDC5-6EBA-94806E16C894}"/>
              </a:ext>
            </a:extLst>
          </p:cNvPr>
          <p:cNvSpPr txBox="1"/>
          <p:nvPr/>
        </p:nvSpPr>
        <p:spPr>
          <a:xfrm>
            <a:off x="6129617" y="6283263"/>
            <a:ext cx="5060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Рис. 6 – Результат анализа, сохранённый в </a:t>
            </a:r>
            <a:r>
              <a:rPr lang="ru-RU" sz="1600" dirty="0" err="1">
                <a:latin typeface="Roboto" panose="02000000000000000000" pitchFamily="2" charset="0"/>
                <a:ea typeface="Roboto" panose="02000000000000000000" pitchFamily="2" charset="0"/>
              </a:rPr>
              <a:t>бакет</a:t>
            </a:r>
            <a:endParaRPr lang="ru-RU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915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B4002B9-A751-D851-0395-070FD3053B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5400" dirty="0">
                <a:latin typeface="Roboto" panose="02000000000000000000" pitchFamily="2" charset="0"/>
                <a:ea typeface="Roboto" panose="02000000000000000000" pitchFamily="2" charset="0"/>
              </a:rPr>
              <a:t>Спасибо за внимание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0283A5D-9141-5E2C-0ECC-868C2DE8B347}"/>
              </a:ext>
            </a:extLst>
          </p:cNvPr>
          <p:cNvSpPr txBox="1">
            <a:spLocks/>
          </p:cNvSpPr>
          <p:nvPr/>
        </p:nvSpPr>
        <p:spPr>
          <a:xfrm>
            <a:off x="7135906" y="5047129"/>
            <a:ext cx="4984377" cy="4303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u-RU" sz="2000" dirty="0" err="1">
                <a:latin typeface="Roboto" panose="02000000000000000000" pitchFamily="2" charset="0"/>
                <a:ea typeface="Roboto" panose="02000000000000000000" pitchFamily="2" charset="0"/>
              </a:rPr>
              <a:t>Сыкулев</a:t>
            </a: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</a:rPr>
              <a:t> Антон ИТСИ-24-1м</a:t>
            </a:r>
          </a:p>
        </p:txBody>
      </p:sp>
    </p:spTree>
    <p:extLst>
      <p:ext uri="{BB962C8B-B14F-4D97-AF65-F5344CB8AC3E}">
        <p14:creationId xmlns:p14="http://schemas.microsoft.com/office/powerpoint/2010/main" val="5559658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205</Words>
  <Application>Microsoft Office PowerPoint</Application>
  <PresentationFormat>Широкоэкранный</PresentationFormat>
  <Paragraphs>20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Roboto</vt:lpstr>
      <vt:lpstr>Тема Office</vt:lpstr>
      <vt:lpstr>Сервис хранения, анализа изображений с помощью компьютерного зрения</vt:lpstr>
      <vt:lpstr>Компоненты сервиса</vt:lpstr>
      <vt:lpstr>Функционал сервиса</vt:lpstr>
      <vt:lpstr>Функционал сервиса</vt:lpstr>
      <vt:lpstr>Функционал сервиса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Ahtoh</dc:creator>
  <cp:lastModifiedBy>Ahtoh</cp:lastModifiedBy>
  <cp:revision>1</cp:revision>
  <dcterms:created xsi:type="dcterms:W3CDTF">2025-12-29T10:38:05Z</dcterms:created>
  <dcterms:modified xsi:type="dcterms:W3CDTF">2025-12-29T11:47:23Z</dcterms:modified>
</cp:coreProperties>
</file>